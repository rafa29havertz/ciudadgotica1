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4398d028b8463f" /><Relationship Type="http://schemas.openxmlformats.org/officeDocument/2006/relationships/extended-properties" Target="/docProps/app.xml" Id="R8cfb9f662a324acd" /><Relationship Type="http://schemas.openxmlformats.org/officeDocument/2006/relationships/officeDocument" Target="/ppt/presentation.xml" Id="R7a544a0549c44f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676b7106154846"/>
  </p:sldMasterIdLst>
  <p:notesMasterIdLst>
    <p:notesMasterId xmlns:r="http://schemas.openxmlformats.org/officeDocument/2006/relationships" r:id="R2fd21c62ef5d4f0e"/>
  </p:notesMasterIdLst>
  <p:sldIdLst>
    <p:sldId xmlns:r="http://schemas.openxmlformats.org/officeDocument/2006/relationships" id="256" r:id="R997cbbf57f7a4f22"/>
    <p:sldId xmlns:r="http://schemas.openxmlformats.org/officeDocument/2006/relationships" id="257" r:id="Rd72ae3dd5ae64420"/>
    <p:sldId xmlns:r="http://schemas.openxmlformats.org/officeDocument/2006/relationships" id="258" r:id="Rea50454881e045b5"/>
    <p:sldId xmlns:r="http://schemas.openxmlformats.org/officeDocument/2006/relationships" id="259" r:id="R9dbd649c93dc486b"/>
    <p:sldId xmlns:r="http://schemas.openxmlformats.org/officeDocument/2006/relationships" id="260" r:id="R9c1a52e59c764ccd"/>
    <p:sldId xmlns:r="http://schemas.openxmlformats.org/officeDocument/2006/relationships" id="261" r:id="R4974d8e175a443b8"/>
    <p:sldId xmlns:r="http://schemas.openxmlformats.org/officeDocument/2006/relationships" id="262" r:id="R68ac69b61e5148ac"/>
    <p:sldId xmlns:r="http://schemas.openxmlformats.org/officeDocument/2006/relationships" id="263" r:id="Re9e4baa301e4445a"/>
    <p:sldId xmlns:r="http://schemas.openxmlformats.org/officeDocument/2006/relationships" id="264" r:id="R53fe366ac434467a"/>
    <p:sldId xmlns:r="http://schemas.openxmlformats.org/officeDocument/2006/relationships" id="265" r:id="Re5f3a07eaaf44072"/>
    <p:sldId xmlns:r="http://schemas.openxmlformats.org/officeDocument/2006/relationships" id="266" r:id="Rb7a9acccfb2f4ba2"/>
    <p:sldId xmlns:r="http://schemas.openxmlformats.org/officeDocument/2006/relationships" id="267" r:id="Ra29f47c16a124054"/>
    <p:sldId xmlns:r="http://schemas.openxmlformats.org/officeDocument/2006/relationships" id="268" r:id="Re404dcf2323247b4"/>
    <p:sldId xmlns:r="http://schemas.openxmlformats.org/officeDocument/2006/relationships" id="269" r:id="R2ec2fb44ddb44024"/>
    <p:sldId xmlns:r="http://schemas.openxmlformats.org/officeDocument/2006/relationships" id="270" r:id="R8963d96701bb46a0"/>
    <p:sldId xmlns:r="http://schemas.openxmlformats.org/officeDocument/2006/relationships" id="271" r:id="R8577f77e04124e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fc4057bcab4e5c" /><Relationship Type="http://schemas.openxmlformats.org/officeDocument/2006/relationships/slideMaster" Target="/ppt/slideMasters/slideMaster1.xml" Id="R5f676b7106154846" /><Relationship Type="http://schemas.openxmlformats.org/officeDocument/2006/relationships/notesMaster" Target="/ppt/notesMasters/notesMaster1.xml" Id="R2fd21c62ef5d4f0e" /><Relationship Type="http://schemas.openxmlformats.org/officeDocument/2006/relationships/presProps" Target="/ppt/presProps.xml" Id="R79d55005b2674f8c" /><Relationship Type="http://schemas.openxmlformats.org/officeDocument/2006/relationships/tableStyles" Target="/ppt/tableStyles.xml" Id="R8791cb88981f4918" /><Relationship Type="http://schemas.openxmlformats.org/officeDocument/2006/relationships/slide" Target="/ppt/slides/slide1.xml" Id="R997cbbf57f7a4f22" /><Relationship Type="http://schemas.openxmlformats.org/officeDocument/2006/relationships/slide" Target="/ppt/slides/slide2.xml" Id="Rd72ae3dd5ae64420" /><Relationship Type="http://schemas.openxmlformats.org/officeDocument/2006/relationships/slide" Target="/ppt/slides/slide3.xml" Id="Rea50454881e045b5" /><Relationship Type="http://schemas.openxmlformats.org/officeDocument/2006/relationships/slide" Target="/ppt/slides/slide4.xml" Id="R9dbd649c93dc486b" /><Relationship Type="http://schemas.openxmlformats.org/officeDocument/2006/relationships/slide" Target="/ppt/slides/slide5.xml" Id="R9c1a52e59c764ccd" /><Relationship Type="http://schemas.openxmlformats.org/officeDocument/2006/relationships/slide" Target="/ppt/slides/slide6.xml" Id="R4974d8e175a443b8" /><Relationship Type="http://schemas.openxmlformats.org/officeDocument/2006/relationships/slide" Target="/ppt/slides/slide7.xml" Id="R68ac69b61e5148ac" /><Relationship Type="http://schemas.openxmlformats.org/officeDocument/2006/relationships/slide" Target="/ppt/slides/slide8.xml" Id="Re9e4baa301e4445a" /><Relationship Type="http://schemas.openxmlformats.org/officeDocument/2006/relationships/slide" Target="/ppt/slides/slide9.xml" Id="R53fe366ac434467a" /><Relationship Type="http://schemas.openxmlformats.org/officeDocument/2006/relationships/slide" Target="/ppt/slides/slide10.xml" Id="Re5f3a07eaaf44072" /><Relationship Type="http://schemas.openxmlformats.org/officeDocument/2006/relationships/slide" Target="/ppt/slides/slide11.xml" Id="Rb7a9acccfb2f4ba2" /><Relationship Type="http://schemas.openxmlformats.org/officeDocument/2006/relationships/slide" Target="/ppt/slides/slide12.xml" Id="Ra29f47c16a124054" /><Relationship Type="http://schemas.openxmlformats.org/officeDocument/2006/relationships/slide" Target="/ppt/slides/slide13.xml" Id="Re404dcf2323247b4" /><Relationship Type="http://schemas.openxmlformats.org/officeDocument/2006/relationships/slide" Target="/ppt/slides/slide14.xml" Id="R2ec2fb44ddb44024" /><Relationship Type="http://schemas.openxmlformats.org/officeDocument/2006/relationships/slide" Target="/ppt/slides/slide15.xml" Id="R8963d96701bb46a0" /><Relationship Type="http://schemas.openxmlformats.org/officeDocument/2006/relationships/slide" Target="/ppt/slides/slide16.xml" Id="R8577f77e04124e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8580c399f642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9a60a82da44526" /><Relationship Type="http://schemas.openxmlformats.org/officeDocument/2006/relationships/notesMaster" Target="/ppt/notesMasters/notesMaster1.xml" Id="R511615cc39784c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95142da65c4e5b" /><Relationship Type="http://schemas.openxmlformats.org/officeDocument/2006/relationships/notesMaster" Target="/ppt/notesMasters/notesMaster1.xml" Id="R5c8eb6dc675e46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55e1c2e030445f" /><Relationship Type="http://schemas.openxmlformats.org/officeDocument/2006/relationships/notesMaster" Target="/ppt/notesMasters/notesMaster1.xml" Id="R78bb45fa3d3141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afc35e73604003" /><Relationship Type="http://schemas.openxmlformats.org/officeDocument/2006/relationships/notesMaster" Target="/ppt/notesMasters/notesMaster1.xml" Id="R6304edad033c41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9516d0062e4b2f" /><Relationship Type="http://schemas.openxmlformats.org/officeDocument/2006/relationships/notesMaster" Target="/ppt/notesMasters/notesMaster1.xml" Id="R65b34f3e397540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f425c0c0934153" /><Relationship Type="http://schemas.openxmlformats.org/officeDocument/2006/relationships/notesMaster" Target="/ppt/notesMasters/notesMaster1.xml" Id="Rb5b41796450140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ec76bebdcb4e0a" /><Relationship Type="http://schemas.openxmlformats.org/officeDocument/2006/relationships/notesMaster" Target="/ppt/notesMasters/notesMaster1.xml" Id="Rfaf1ad673eeb4b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3fdc0bff8848ee" /><Relationship Type="http://schemas.openxmlformats.org/officeDocument/2006/relationships/notesMaster" Target="/ppt/notesMasters/notesMaster1.xml" Id="Rdbc7104398c443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6011a9f17f4f97" /><Relationship Type="http://schemas.openxmlformats.org/officeDocument/2006/relationships/notesMaster" Target="/ppt/notesMasters/notesMaster1.xml" Id="Rca0989c5faae45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fd4bb640be4fd2" /><Relationship Type="http://schemas.openxmlformats.org/officeDocument/2006/relationships/notesMaster" Target="/ppt/notesMasters/notesMaster1.xml" Id="R253332ca6fb140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53c3b748f94e31" /><Relationship Type="http://schemas.openxmlformats.org/officeDocument/2006/relationships/notesMaster" Target="/ppt/notesMasters/notesMaster1.xml" Id="Rcc46bdec20bb4f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393d2f85fe480c" /><Relationship Type="http://schemas.openxmlformats.org/officeDocument/2006/relationships/notesMaster" Target="/ppt/notesMasters/notesMaster1.xml" Id="Re24e09b0ac7245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eecdd42cff4a47" /><Relationship Type="http://schemas.openxmlformats.org/officeDocument/2006/relationships/notesMaster" Target="/ppt/notesMasters/notesMaster1.xml" Id="R3a53267cc7f040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bb14d72ad1d40c4" /><Relationship Type="http://schemas.openxmlformats.org/officeDocument/2006/relationships/notesMaster" Target="/ppt/notesMasters/notesMaster1.xml" Id="Rae7016def2064d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799b60669c34b02" /><Relationship Type="http://schemas.openxmlformats.org/officeDocument/2006/relationships/notesMaster" Target="/ppt/notesMasters/notesMaster1.xml" Id="Rd166b833637c4fd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7c34cbbfdf4154" /><Relationship Type="http://schemas.openxmlformats.org/officeDocument/2006/relationships/notesMaster" Target="/ppt/notesMasters/notesMaster1.xml" Id="Rc505c28281574a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 proporcionado «Implementación y Segmentación.pdf», páginas impresas 227–247. Secciones 3.6 y 3.7.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 proporcionado «Implementación y Segmentación.pdf», páginas impresas 227–228. Secciones 3.6 y 3.7.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 proporcionado «Implementación y Segmentación.pdf», páginas impresas 228. Secciones 3.6 y 3.7.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 proporcionado «Implementación y Segmentación.pdf», páginas impresas 228–229. Secciones 3.6 y 3.7.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 proporcionado «Implementación y Segmentación.pdf», páginas impresas 229–230. Secciones 3.6 y 3.7.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 proporcionado «Implementación y Segmentación.pdf», páginas impresas 230–231. Secciones 3.6 y 3.7.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 proporcionado «Implementación y Segmentación.pdf», páginas impresas 231–232. Secciones 3.6 y 3.7.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 proporcionado «Implementación y Segmentación.pdf», páginas impresas 233–234. Secciones 3.6 y 3.7.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 proporcionado «Implementación y Segmentación.pdf», páginas impresas 234–236. Secciones 3.6 y 3.7.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 proporcionado «Implementación y Segmentación.pdf», páginas impresas 236. Secciones 3.6 y 3.7. Esquema reproducido del documento.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 proporcionado «Implementación y Segmentación.pdf», páginas impresas 236–239. Secciones 3.6 y 3.7.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 proporcionado «Implementación y Segmentación.pdf», páginas impresas 238–242. Secciones 3.6 y 3.7.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 proporcionado «Implementación y Segmentación.pdf», páginas impresas 239–242. Secciones 3.6 y 3.7.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 proporcionado «Implementación y Segmentación.pdf», páginas impresas 242–244. Secciones 3.6 y 3.7.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 proporcionado «Implementación y Segmentación.pdf», páginas impresas 245–246. Secciones 3.6 y 3.7. Esquema reproducido del documento.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documento proporcionado «Implementación y Segmentación.pdf», páginas impresas 246–247. Secciones 3.6 y 3.7.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16d6d90dfb4d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d99feb79694992" /><Relationship Type="http://schemas.openxmlformats.org/officeDocument/2006/relationships/slideLayout" Target="/ppt/slideLayouts/slideLayout1.xml" Id="Re752fb872ae84d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52fb872ae84d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76f055791478c" /><Relationship Type="http://schemas.openxmlformats.org/officeDocument/2006/relationships/notesSlide" Target="/ppt/notesSlides/notesSlide1.xml" Id="R72ffb577d5c540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83cec7cf343f1" /><Relationship Type="http://schemas.openxmlformats.org/officeDocument/2006/relationships/notesSlide" Target="/ppt/notesSlides/notesSlide2.xml" Id="R2d02626ffe5f4a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06979d5e946d5" /><Relationship Type="http://schemas.openxmlformats.org/officeDocument/2006/relationships/notesSlide" Target="/ppt/notesSlides/notesSlide3.xml" Id="Rce288f61c52444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6539b8ad04b99" /><Relationship Type="http://schemas.openxmlformats.org/officeDocument/2006/relationships/notesSlide" Target="/ppt/notesSlides/notesSlide4.xml" Id="R50180103077b48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ec49cab034c84" /><Relationship Type="http://schemas.openxmlformats.org/officeDocument/2006/relationships/notesSlide" Target="/ppt/notesSlides/notesSlide5.xml" Id="Rb1b02beb03604b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06f4a76ec47ea" /><Relationship Type="http://schemas.openxmlformats.org/officeDocument/2006/relationships/notesSlide" Target="/ppt/notesSlides/notesSlide6.xml" Id="Rd2c0aed7a64d40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cfc42fb1b42f0" /><Relationship Type="http://schemas.openxmlformats.org/officeDocument/2006/relationships/notesSlide" Target="/ppt/notesSlides/notesSlide7.xml" Id="R48d23bcc68ad48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e0aa114df49b5" /><Relationship Type="http://schemas.openxmlformats.org/officeDocument/2006/relationships/notesSlide" Target="/ppt/notesSlides/notesSlide8.xml" Id="R9efb945346484f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126be20f94e2b" /><Relationship Type="http://schemas.openxmlformats.org/officeDocument/2006/relationships/notesSlide" Target="/ppt/notesSlides/notesSlide9.xml" Id="R1e122af0e72d42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fb7de8c7b488d" /><Relationship Type="http://schemas.openxmlformats.org/officeDocument/2006/relationships/image" Target="/ppt/media/image.png" Id="R7b484894689f4df4" /><Relationship Type="http://schemas.openxmlformats.org/officeDocument/2006/relationships/notesSlide" Target="/ppt/notesSlides/notesSlide10.xml" Id="Rf52be119605642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fc6afdc054a11" /><Relationship Type="http://schemas.openxmlformats.org/officeDocument/2006/relationships/notesSlide" Target="/ppt/notesSlides/notesSlide11.xml" Id="Rb30f3a46636f4d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4e19d82fd4dd3" /><Relationship Type="http://schemas.openxmlformats.org/officeDocument/2006/relationships/notesSlide" Target="/ppt/notesSlides/notesSlide12.xml" Id="R17bfbd0ebb8b4b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484adc2c74b8b" /><Relationship Type="http://schemas.openxmlformats.org/officeDocument/2006/relationships/notesSlide" Target="/ppt/notesSlides/notesSlide13.xml" Id="R57237c1dedcd43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04f312bf74977" /><Relationship Type="http://schemas.openxmlformats.org/officeDocument/2006/relationships/notesSlide" Target="/ppt/notesSlides/notesSlide14.xml" Id="R50fd9cb090f244c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07742c31a4ad0" /><Relationship Type="http://schemas.openxmlformats.org/officeDocument/2006/relationships/image" Target="/ppt/media/image2.png" Id="R0f447fe1c1ef40e6" /><Relationship Type="http://schemas.openxmlformats.org/officeDocument/2006/relationships/notesSlide" Target="/ppt/notesSlides/notesSlide15.xml" Id="Rab1e9419c2584dd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69f4934d04640" /><Relationship Type="http://schemas.openxmlformats.org/officeDocument/2006/relationships/notesSlide" Target="/ppt/notesSlides/notesSlide16.xml" Id="R268db5ced48243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C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3F99D-7D82-4B78-BE8D-526206FE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EDFD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EDFD3"/>
                </a:solidFill>
                <a:latin typeface="Aptos"/>
                <a:ea typeface="Aptos"/>
                <a:cs typeface="Aptos"/>
              </a:rPr>
              <a:t>SISTEMAS OPERATIVOS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56BF0-0731-4F67-8E16-B8189253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10763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4FAF9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4FAF9"/>
                </a:solidFill>
                <a:latin typeface="Aptos"/>
                <a:ea typeface="Aptos"/>
                <a:cs typeface="Aptos"/>
              </a:rPr>
              <a:t>Implementación</a:t>
            </a:r>
          </a:p>
          <a:p xmlns:a="http://schemas.openxmlformats.org/drawingml/2006/main">
            <a:pPr>
              <a:defRPr sz="4950" b="1">
                <a:solidFill>
                  <a:srgbClr val="F4FAF9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4FAF9"/>
                </a:solidFill>
                <a:latin typeface="Aptos"/>
                <a:ea typeface="Aptos"/>
                <a:cs typeface="Aptos"/>
              </a:rPr>
              <a:t>y segmentación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09ECF-E88D-4008-A790-848AAB09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3E5E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3E5E3"/>
                </a:solidFill>
                <a:latin typeface="Aptos"/>
                <a:ea typeface="Aptos"/>
                <a:cs typeface="Aptos"/>
              </a:rPr>
              <a:t>Sistemas operativos · Administración de memoria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BECEC-D712-4F62-AE41-310959CA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3E5E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3E5E3"/>
                </a:solidFill>
                <a:latin typeface="Aptos"/>
                <a:ea typeface="Aptos"/>
                <a:cs typeface="Aptos"/>
              </a:rPr>
              <a:t>Juan Rafael Aguilar Salinas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8EC0B-6EDB-4FB3-AAC0-36284E62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3E5E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3E5E3"/>
                </a:solidFill>
                <a:latin typeface="Aptos"/>
                <a:ea typeface="Aptos"/>
                <a:cs typeface="Aptos"/>
              </a:rPr>
              <a:t>Ingeniería en Computación · UAEMéx Texcoco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46838-CE48-4CE9-9B85-D760E2E8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48425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EDF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DFD3"/>
                </a:solidFill>
                <a:latin typeface="Aptos"/>
                <a:ea typeface="Aptos"/>
                <a:cs typeface="Aptos"/>
              </a:rPr>
              <a:t>Implementación y segmentación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BF581-6FA8-4225-B053-E36B0BC6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EDF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DFD3"/>
                </a:solidFill>
                <a:latin typeface="Aptos"/>
                <a:ea typeface="Aptos"/>
                <a:cs typeface="Aptos"/>
              </a:rPr>
              <a:t>01 / 16</a:t>
            </a:r>
          </a:p>
        </p:txBody>
      </p:sp>
    </p:spTree>
    <p:extLst>
      <p:ext uri="{BB962C8B-B14F-4D97-AF65-F5344CB8AC3E}">
        <p14:creationId xmlns:p14="http://schemas.microsoft.com/office/powerpoint/2010/main" val="24402730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1E2D1-8FE3-48F2-AFED-FE053BD1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01 / 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E916A-FFA9-4DD0-B806-FE36F83D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3B42"/>
                </a:solidFill>
                <a:latin typeface="Aptos"/>
                <a:ea typeface="Aptos"/>
                <a:cs typeface="Aptos"/>
              </a:rPr>
              <a:t>El papel del sistema operativo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AFC1A-BEAD-4C64-B048-9EB9A1F3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74D25-CA90-48C5-BE52-57704084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3835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Prepara la memoria cuando crea un proceso.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352AB-0939-4919-B9B1-C286850D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1E2ED-6117-4BA4-8E5A-7885035A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00037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Carga las páginas necesarias durante la ejecución.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1F7B1-264B-4579-9238-7BF03EC4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428D0-8BA9-469B-A6F5-032132FB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96240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Libera los recursos cuando el proceso termina.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16A31-EB2C-4DC5-8492-FD6C3D4B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024B6-410D-4541-A2A3-885611ED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92442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La MMU traduce las direcciones virtuales. El sistema operativo configura las tablas que utiliza.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95967-58D3-40D1-BF62-A8099C28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48425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Implementación y segmentación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F15AE-D14E-4853-B0E5-FDF5A8D7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02 / 16</a:t>
            </a:r>
          </a:p>
        </p:txBody>
      </p:sp>
    </p:spTree>
    <p:extLst>
      <p:ext uri="{BB962C8B-B14F-4D97-AF65-F5344CB8AC3E}">
        <p14:creationId xmlns:p14="http://schemas.microsoft.com/office/powerpoint/2010/main" val="1953449787"/>
      </p:ext>
    </p:extLst>
  </p:cSld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5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EF8BE-795D-4755-998F-41793C2E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01 / 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9C85B-5D51-436B-937E-224017F2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3B42"/>
                </a:solidFill>
                <a:latin typeface="Aptos"/>
                <a:ea typeface="Aptos"/>
                <a:cs typeface="Aptos"/>
              </a:rPr>
              <a:t>¿Qué ocurre en un fallo de página?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58D2E-36FD-482F-8F3E-1B92B59D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A44A3-3E54-4C6E-A287-22531CC9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3835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La página solicitada no está en la memoria principal.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44439-7A07-4F97-B627-6D09D4C1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40B0B-4235-471F-B11E-DC28EAA1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00037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El sistema comprueba el acceso y busca un marco disponible.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B1E1D-A0FC-44C0-9407-667B795E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86D7E-3931-41A7-B6DB-76BA4BFF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96240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Si no hay espacio, selecciona una página para reemplazar.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8E67D-CEE9-4B00-A923-23A858D6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345BC-DEAD-4257-BC7F-03CA6EC7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92442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Un fallo de página puede ser normal: no significa que el programa tenga un error.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E338F-77A4-430C-B64D-CD5F2049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48425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Implementación y segmentación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9DD36-2B0C-4CB9-A5FE-7FD536A0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03 / 16</a:t>
            </a:r>
          </a:p>
        </p:txBody>
      </p:sp>
    </p:spTree>
    <p:extLst>
      <p:ext uri="{BB962C8B-B14F-4D97-AF65-F5344CB8AC3E}">
        <p14:creationId xmlns:p14="http://schemas.microsoft.com/office/powerpoint/2010/main" val="855346575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5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45BDC-79B7-4B45-9A1C-53EBE0CD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01 / 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08975-50BB-411A-A3B7-F5ACE874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3B42"/>
                </a:solidFill>
                <a:latin typeface="Aptos"/>
                <a:ea typeface="Aptos"/>
                <a:cs typeface="Aptos"/>
              </a:rPr>
              <a:t>Carga y continuación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95EAF-FEDD-4E70-9C80-0EDA55D8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3764F-0465-4DC8-8A9A-1E37FC82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3835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Guarda en disco la página reemplazada si fue modificada.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EEEF1-B9F6-4008-AEBB-C458552F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EB3BD-4F77-4736-9CE5-CFC27764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00037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Carga la página solicitada y actualiza la tabla de páginas.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5C1D1-5C80-4AC2-AE4F-A1A34E8E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E0BD9-D2DD-4EC8-8A9D-1F526A76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96240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Restaura el estado y vuelve a ejecutar la instrucción.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0512A-B464-4ACB-9A7C-EEF9C1C5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131A7-CAC4-435D-A513-B0067F33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92442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Durante la lectura del disco, el proceso espera y otro proceso puede usar la CPU.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603D5-0F76-4B69-87BD-D115FEB7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48425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Implementación y segmentación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8B71D-1EE5-4EF1-907C-37BB4344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04 / 16</a:t>
            </a:r>
          </a:p>
        </p:txBody>
      </p:sp>
    </p:spTree>
    <p:extLst>
      <p:ext uri="{BB962C8B-B14F-4D97-AF65-F5344CB8AC3E}">
        <p14:creationId xmlns:p14="http://schemas.microsoft.com/office/powerpoint/2010/main" val="1038895350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5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02485-3051-4F26-A7E8-933F0005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01 / 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7654A-925D-4095-849A-E2339E09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3B42"/>
                </a:solidFill>
                <a:latin typeface="Aptos"/>
                <a:ea typeface="Aptos"/>
                <a:cs typeface="Aptos"/>
              </a:rPr>
              <a:t>Reinicio de una instrucción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4F446-55A5-4152-89FF-819F1926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D889D-4E9D-41E5-B469-30A5EC22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3835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Una instrucción puede detenerse a la mitad.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439D6-0025-4209-9B9F-3635CFC8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9E083-4503-4B29-B188-3CF95252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00037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El sistema recupera su inicio y deshace los cambios parciales.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059C7-C16F-42AE-A9AB-A7F79150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A6C3D-F9BE-41B4-BBD3-130704C0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96240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El hardware ayuda guardando información del estado anterior.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A8135-0600-41F5-9CDA-85BA2057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8E1AD-AD0B-4CBA-8AC4-E05AC39D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92442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Por ejemplo, hay que evitar que un registro se incremente dos veces al repetir la instrucción.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8D165-0B08-4F51-A621-5C8B14D7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48425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Implementación y segmentación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A27E4-1A4C-4268-BE31-EA44AA06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05 / 16</a:t>
            </a:r>
          </a:p>
        </p:txBody>
      </p:sp>
    </p:spTree>
    <p:extLst>
      <p:ext uri="{BB962C8B-B14F-4D97-AF65-F5344CB8AC3E}">
        <p14:creationId xmlns:p14="http://schemas.microsoft.com/office/powerpoint/2010/main" val="1324056195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5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3A8B3-F9D9-4A16-93CE-6B4E73A9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01 / 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3CFBA-382E-4F1B-A1AA-65214664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3B42"/>
                </a:solidFill>
                <a:latin typeface="Aptos"/>
                <a:ea typeface="Aptos"/>
                <a:cs typeface="Aptos"/>
              </a:rPr>
              <a:t>Páginas fijas durante la entrada/salida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5C28B-A8AB-48C2-9F02-3A94C8F9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83F48-F235-4F1A-8BB6-1611CFFC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3835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Una transferencia necesita que su página permanezca en memoria.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9DEA3-E453-42B2-9B26-026A4286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A5BB3-F44C-458C-994A-4D41B6DD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00037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El pinning impide reemplazarla hasta terminar la operación.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17C26-5C61-4D26-BDCF-FED3DE02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08FDB-0BB4-4867-BF9A-489A9B48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96240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Otra opción usa un búfer del kernel y después copia los datos.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8F7A8-6F6B-4429-849F-8563DE65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9E97E-2744-4BD8-BD45-52319B90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92442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DMA permite transferir datos directamente entre un dispositivo y la memoria.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CA08B-B28C-4715-A88B-7FC00C03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48425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Implementación y segmentación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8228D-E567-4FED-8DA9-77812F6E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06 / 16</a:t>
            </a:r>
          </a:p>
        </p:txBody>
      </p:sp>
    </p:spTree>
    <p:extLst>
      <p:ext uri="{BB962C8B-B14F-4D97-AF65-F5344CB8AC3E}">
        <p14:creationId xmlns:p14="http://schemas.microsoft.com/office/powerpoint/2010/main" val="1915708417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5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103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9B4DD-134C-4405-AA2F-FC8A2438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01 / 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D5423-E80B-415C-828B-6AFD8EF6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3B42"/>
                </a:solidFill>
                <a:latin typeface="Aptos"/>
                <a:ea typeface="Aptos"/>
                <a:cs typeface="Aptos"/>
              </a:rPr>
              <a:t>Respaldo en disco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68C55-0EC4-4C57-81AF-D7C42494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64FB7-F4D2-4C45-BF55-72719A2A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3835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Guarda las páginas que salen de la memoria principal.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28931-2996-49D4-A8F5-BD94B2E0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41013-2EE8-432B-AAB5-7FCCB0BF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00037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Estático: cada página tiene un lugar reservado.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13127-F2E2-4FE4-AF82-01106C91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C4F53-C71C-446E-B2F9-FC980CB0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96240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Dinámico: el espacio se asigna cuando la página sale.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5E8D2-BD1F-4091-B2FE-CDD54A12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0E36B-A020-4315-B5C6-DB2A4D4A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92442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El código sin modificar también puede recuperarse directamente del archivo ejecutable.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B3E2D-4BB3-4E60-9B76-29E4500D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48425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Implementación y segmentación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7004F-C005-4F38-AAE1-CEB16718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07 / 16</a:t>
            </a:r>
          </a:p>
        </p:txBody>
      </p:sp>
    </p:spTree>
    <p:extLst>
      <p:ext uri="{BB962C8B-B14F-4D97-AF65-F5344CB8AC3E}">
        <p14:creationId xmlns:p14="http://schemas.microsoft.com/office/powerpoint/2010/main" val="736837678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5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D2A09-53A7-4499-9438-64113FFC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01 / 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477CA-86A6-49FA-9A2F-1FBB6671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3B42"/>
                </a:solidFill>
                <a:latin typeface="Aptos"/>
                <a:ea typeface="Aptos"/>
                <a:cs typeface="Aptos"/>
              </a:rPr>
              <a:t>Política y mecanismo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CDBD9-F9C0-4F12-A40E-DE149935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6F1D1-DE11-4041-AE55-08E662B6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3835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La política decide qué hacer con las páginas.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9294C-BE79-4F92-8379-CF10465E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54D42-C071-4EA1-ADC1-7DF6CA2A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00037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El mecanismo realiza las operaciones de memoria.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BD217-BCEA-4856-93B4-A06A7CBE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95BD1-A470-4AC9-86A0-8FB0AEDA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96240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Separarlos facilita los cambios, pero añade comunicación entre componentes.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92504-9C42-44C9-B66F-B9AC9114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E9C36-618D-42B9-AD2B-683C428B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92442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Un paginador externo puede administrar el respaldo desde el espacio de usuario.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80DEC-B389-4D0E-A053-5DA5E238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48425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Implementación y segmentación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05679-9F13-4E02-8A20-7A53BCE3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08 / 16</a:t>
            </a:r>
          </a:p>
        </p:txBody>
      </p:sp>
    </p:spTree>
    <p:extLst>
      <p:ext uri="{BB962C8B-B14F-4D97-AF65-F5344CB8AC3E}">
        <p14:creationId xmlns:p14="http://schemas.microsoft.com/office/powerpoint/2010/main" val="1011465930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5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3C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0F2F8-EF0B-4D1C-941E-D2D8BB19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EDFD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EDFD3"/>
                </a:solidFill>
                <a:latin typeface="Aptos"/>
                <a:ea typeface="Aptos"/>
                <a:cs typeface="Aptos"/>
              </a:rPr>
              <a:t>02 / SEGMENTACIÓN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39F6B-6B42-4490-BB69-4624CA66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4FAF9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4FAF9"/>
                </a:solidFill>
                <a:latin typeface="Aptos"/>
                <a:ea typeface="Aptos"/>
                <a:cs typeface="Aptos"/>
              </a:rPr>
              <a:t>¿Qué es la segmentación?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BEA19-2330-4A02-B75F-C57D7B0A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EDFD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EDFD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4D6EC-A6F4-4845-8140-B744C062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3835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AF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4FAF9"/>
                </a:solidFill>
                <a:latin typeface="Aptos"/>
                <a:ea typeface="Aptos"/>
                <a:cs typeface="Aptos"/>
              </a:rPr>
              <a:t>Organiza la memoria en partes lógicas: código, datos o pila.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DDADF-ADBC-4067-B01E-8535226D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EDFD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EDFD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96016-E89C-4FD8-9148-C6AA4313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00037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AF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4FAF9"/>
                </a:solidFill>
                <a:latin typeface="Aptos"/>
                <a:ea typeface="Aptos"/>
                <a:cs typeface="Aptos"/>
              </a:rPr>
              <a:t>Cada segmento tiene su propio tamaño y puede crecer.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BB14F-7F9A-4CCB-BCE5-CC48E3C3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EDFD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EDFD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30A1F-B008-4F82-AB0A-840B1643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96240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AF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4FAF9"/>
                </a:solidFill>
                <a:latin typeface="Aptos"/>
                <a:ea typeface="Aptos"/>
                <a:cs typeface="Aptos"/>
              </a:rPr>
              <a:t>Una dirección indica el segmento y el desplazamiento.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78179-5F10-4BEC-A53E-5A6CFCED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EDFD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EDFD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44282-4469-4DA4-A1E9-130D3B4C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92442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AF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4FAF9"/>
                </a:solidFill>
                <a:latin typeface="Aptos"/>
                <a:ea typeface="Aptos"/>
                <a:cs typeface="Aptos"/>
              </a:rPr>
              <a:t>Por ejemplo, la pila puede crecer sin ocupar el espacio de direcciones de la tabla de símbolos.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EFF14-7264-4C48-A4E1-B0B3B1CA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48425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EDF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DFD3"/>
                </a:solidFill>
                <a:latin typeface="Aptos"/>
                <a:ea typeface="Aptos"/>
                <a:cs typeface="Aptos"/>
              </a:rPr>
              <a:t>Implementación y segmentación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1AE3B-CF81-499B-B008-6E6AB279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EDF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DFD3"/>
                </a:solidFill>
                <a:latin typeface="Aptos"/>
                <a:ea typeface="Aptos"/>
                <a:cs typeface="Aptos"/>
              </a:rPr>
              <a:t>09 / 16</a:t>
            </a:r>
          </a:p>
        </p:txBody>
      </p:sp>
    </p:spTree>
    <p:extLst>
      <p:ext uri="{BB962C8B-B14F-4D97-AF65-F5344CB8AC3E}">
        <p14:creationId xmlns:p14="http://schemas.microsoft.com/office/powerpoint/2010/main" val="1819131638"/>
      </p:ext>
    </p:extLst>
  </p:cSld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5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0BCB2-9C45-4171-9EA8-7776FDDC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02 / SEGMENTACIÓN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86F98-B089-4DBB-B3B2-2346AAE6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3B42"/>
                </a:solidFill>
                <a:latin typeface="Aptos"/>
                <a:ea typeface="Aptos"/>
                <a:cs typeface="Aptos"/>
              </a:rPr>
              <a:t>Un segmento para cada estructura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E6D4D-48DA-4AA3-9B8A-032FE339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Las tablas de un compilador pueden crecer de forma independiente.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84894689f4df4"/>
          <a:stretch xmlns:a="http://schemas.openxmlformats.org/drawingml/2006/main"/>
        </p:blipFill>
        <p:spPr>
          <a:xfrm xmlns:a="http://schemas.openxmlformats.org/drawingml/2006/main">
            <a:off x="2944403" y="2781300"/>
            <a:ext cx="6350819" cy="32099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89969-27CB-49C5-BF22-DF6D1896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48425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Implementación y segmentación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919A2-44FD-40C9-8879-D8F74F30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1969573705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580C9-34D9-4DB6-9571-86A5B061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02 / SEGMENTACIÓN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C061D-2738-4273-99E5-3DC4C863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3B42"/>
                </a:solidFill>
                <a:latin typeface="Aptos"/>
                <a:ea typeface="Aptos"/>
                <a:cs typeface="Aptos"/>
              </a:rPr>
              <a:t>Ventajas y dificultad principal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C9FE7-728D-4E13-9ABA-922B722B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C2B9D-1791-4C03-9BA6-6248CEBA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3835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Facilita compartir información y proteger cada segmento.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D17B9-DCE4-45B0-A521-D5212205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46C04-B889-40A5-985D-5F772CE3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00037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Simplifica el manejo de estructuras que cambian de tamaño.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8CE00-14A2-4EAB-BC54-6F1FD16C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B75DA-F6CF-4619-A245-761A7050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96240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Puede dejar huecos en memoria: fragmentación externa. La compactación los reúne.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09F0B-E857-453A-8C0D-E7EBCF0B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24C46-4F08-4C93-AC60-5568402A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92442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La compactación mueve segmentos para unir los huecos y formar un espacio libre mayor.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EDA0E-9621-475D-BD78-80D0DC91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48425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Implementación y segmentación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71287-2B4D-4F2E-98D2-642500D9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554955119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5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3C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F445D-2443-47D3-9ED2-FB4FE4B9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EDFD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EDFD3"/>
                </a:solidFill>
                <a:latin typeface="Aptos"/>
                <a:ea typeface="Aptos"/>
                <a:cs typeface="Aptos"/>
              </a:rPr>
              <a:t>02 / SEGMENTACIÓN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5C6DB-1D56-4373-BCA9-652547D8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4FAF9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4FAF9"/>
                </a:solidFill>
                <a:latin typeface="Aptos"/>
                <a:ea typeface="Aptos"/>
                <a:cs typeface="Aptos"/>
              </a:rPr>
              <a:t>Segmentos divididos en páginas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E7B62-B64E-4D6D-AD6F-139402D4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EDFD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EDFD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B851A-B3BA-4DE9-ABF4-B18C0CCD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3835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AF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4FAF9"/>
                </a:solidFill>
                <a:latin typeface="Aptos"/>
                <a:ea typeface="Aptos"/>
                <a:cs typeface="Aptos"/>
              </a:rPr>
              <a:t>La segmentación organiza las partes del programa.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532F1-30F8-4656-886E-5EFCF964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EDFD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EDFD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BEABA-CC5B-4732-AB74-07DC06DC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00037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AF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4FAF9"/>
                </a:solidFill>
                <a:latin typeface="Aptos"/>
                <a:ea typeface="Aptos"/>
                <a:cs typeface="Aptos"/>
              </a:rPr>
              <a:t>La paginación divide cada segmento en bloques de tamaño fijo.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EE400-E9AB-4B3C-A80D-F8B24849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EDFD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EDFD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8E9B5-D6D3-4415-8A23-C7CFB3AF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96240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AF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4FAF9"/>
                </a:solidFill>
                <a:latin typeface="Aptos"/>
                <a:ea typeface="Aptos"/>
                <a:cs typeface="Aptos"/>
              </a:rPr>
              <a:t>Solo las páginas necesarias deben estar en memoria.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B38C7-B20E-45FC-8F3D-CC10017E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EDFD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EDFD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41FEC-B192-43D3-A1FA-DBD7F3B2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92442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AF9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4FAF9"/>
                </a:solidFill>
                <a:latin typeface="Aptos"/>
                <a:ea typeface="Aptos"/>
                <a:cs typeface="Aptos"/>
              </a:rPr>
              <a:t>Esta combinación conserva la organización lógica y evita cargar segmentos completos.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8707C-3D0C-43D1-B971-9E2E7BD1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48425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EDF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DFD3"/>
                </a:solidFill>
                <a:latin typeface="Aptos"/>
                <a:ea typeface="Aptos"/>
                <a:cs typeface="Aptos"/>
              </a:rPr>
              <a:t>Implementación y segmentación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B9E60-7493-457E-A64F-B88E09D7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EDF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EDFD3"/>
                </a:solidFill>
                <a:latin typeface="Aptos"/>
                <a:ea typeface="Aptos"/>
                <a:cs typeface="Aptos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1701823329"/>
      </p:ext>
    </p:extLst>
  </p:cSld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5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49199-9EA0-40A2-936E-666C3DB7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03 / EJEMPLOS DE ARQUITECTURAS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B7B17-93F2-45A6-81E4-77F0D500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3B42"/>
                </a:solidFill>
                <a:latin typeface="Aptos"/>
                <a:ea typeface="Aptos"/>
                <a:cs typeface="Aptos"/>
              </a:rPr>
              <a:t>MULTICS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D710F-1AAF-4204-9356-6D4B453D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4A525-6989-4EAA-A20F-3C126F0E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3835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Usa una tabla de segmentos y tablas de páginas.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06E1E-A68F-41D9-B697-8370B087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D937B-8E08-4D76-8DB6-FE9F2149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00037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La dirección identifica segmento, página y desplazamiento.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E03BC-E121-4B52-AA52-C7FEBC44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8796B-541C-4120-8639-F8BFA6B9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96240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El TLB guarda traducciones recientes para acelerar el acceso.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722A7-725A-4F88-971D-BA12109F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371E6-1D7E-4977-9D3D-68E2E34D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92442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Primero se consulta el descriptor del segmento. Después se localiza la página y la palabra.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2AAC3-0ABA-40A1-9DD7-1C225F56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48425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Implementación y segmentación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64A5B-A382-4D8E-8E7E-ECF78F88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1574805042"/>
      </p:ext>
    </p:extLst>
  </p:cSld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5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E7C1D-B917-4E9E-B243-DCE5BDEB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03 / EJEMPLOS DE ARQUITECTURAS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3A863-59F2-4799-897D-F2EBE79C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3B42"/>
                </a:solidFill>
                <a:latin typeface="Aptos"/>
                <a:ea typeface="Aptos"/>
                <a:cs typeface="Aptos"/>
              </a:rPr>
              <a:t>Intel Pentium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C2885-99FE-4D98-8B62-7029FE1E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D06E0-46DD-4B8D-8FD8-C90FE2FB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3835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El selector identifica un descriptor local o global.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F5431-775B-45D6-BE13-8816FB04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0E6E5-1652-4C90-A9EA-2E767208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00037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El descriptor contiene la base, el límite y los permisos.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69A51-E01D-46DE-B5A6-EB1C24CB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7FC5F-0A13-4E72-98F3-0D54D03D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96240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La base más el desplazamiento produce la dirección lineal.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8A3AC-0774-4FCE-8656-BC949FF2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CC05F-A493-4C2A-9DF0-0FC843A6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92442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Con paginación activa, otra traducción convierte la dirección lineal en dirección física.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FEDA1-EBA2-4E94-B98E-3E25FE7D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48425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Implementación y segmentación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62A9F-95ED-4FF6-8818-540407A7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101739645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5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DC6FF-C228-478A-AF4A-9C671EC1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03 / EJEMPLOS DE ARQUITECTURAS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DF47A-CFEB-4577-890E-A13EDF5B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3B42"/>
                </a:solidFill>
                <a:latin typeface="Aptos"/>
                <a:ea typeface="Aptos"/>
                <a:cs typeface="Aptos"/>
              </a:rPr>
              <a:t>La paginación en el Pentium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059D8-79F1-47C1-8A66-BB64DB21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El directorio y la tabla de páginas localizan el marco físico. En este esquema, cada página ocupa 4 KB.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47fe1c1ef40e6"/>
          <a:stretch xmlns:a="http://schemas.openxmlformats.org/drawingml/2006/main"/>
        </p:blipFill>
        <p:spPr>
          <a:xfrm xmlns:a="http://schemas.openxmlformats.org/drawingml/2006/main">
            <a:off x="3402774" y="2781300"/>
            <a:ext cx="5434076" cy="32099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57A45-408C-4B68-A2F2-30C727F5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48425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Implementación y segmentación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989F5-BCB5-4C6B-9BA7-5E2B3A16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1460001560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15A73-E551-4177-A7A9-2B91BFFB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03 / EJEMPLOS DE ARQUITECTURAS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30FD9-B9BA-4D62-89F6-507E7307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73B42"/>
                </a:solidFill>
                <a:latin typeface="Aptos"/>
                <a:ea typeface="Aptos"/>
                <a:cs typeface="Aptos"/>
              </a:rPr>
              <a:t>Protección y conclusión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D3FBC-5263-4609-A9EA-4FDCA30E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08644-BF6D-4CD6-A08F-5FF233CD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3835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El Pentium descrito utiliza cuatro niveles de privilegio, del 0 al 3.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AD6E1-A2CC-492C-B3C7-7CAA8F63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FD76A-9870-4886-BF72-430E6218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00037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Los permisos y las entradas controladas protegen los segmentos.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8E421-74F8-4064-B42D-BFBD1642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7E045-7044-4F37-A308-6892D7A4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962400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La segmentación organiza la memoria. La paginación permite cargar solo lo necesario.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C448F-6039-4903-9EC8-90018270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59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76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47FF2-BB91-49D1-B6AE-061E0C45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924425"/>
            <a:ext cx="981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3B42"/>
                </a:solidFill>
                <a:latin typeface="Aptos"/>
                <a:ea typeface="Aptos"/>
                <a:cs typeface="Aptos"/>
              </a:rPr>
              <a:t>El nivel 0 tiene el mayor privilegio. El nivel 3 se utiliza para programas de usuario.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FA969-85D3-469F-A612-2D17A3B3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48425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Implementación y segmentación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F06AA-78B6-498D-9784-6A8BB21D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76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766C"/>
                </a:solidFill>
                <a:latin typeface="Aptos"/>
                <a:ea typeface="Aptos"/>
                <a:cs typeface="Aptos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1768781668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5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2026-10-01T03:43:51.6950000Z</dcterms:created>
  <dcterms:modified xsi:type="dcterms:W3CDTF">2026-10-01T03:43:51.6950000Z</dcterms:modified>
</coreProperties>
</file>